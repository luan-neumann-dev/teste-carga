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Luan: Boa noite. Nosso tema e teste de carga. A ideia e bem direta: descobrir se um sistema aguenta a quantidade de gente que a gente espera que use ele. E no final a gente vai rodar um teste de verdade aqui,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Luan: Passar rapido, uns 20 segundos. So para a turma saber que tem demo no final e prestar atencao.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Luan: O ponto principal e a diferenca entre teste funcional e nao funcional. Um teste funcional pergunta "o botao de login funciona?". O teste de carga pergunta "o botao de login continua funcionando quando 500 pessoas clicam nele no mesmo minuto?". O sistema pode estar 100% correto e ainda assim ser inutilizavel.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Luan: Reforcar a ultima linha. O custo de achar isso em teste e uma tarde de trabalho. O custo de achar em producao, num dia de pico, e o sistema fora do ar na hora que ele mais importa.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Eduardo: O ultimo item e o mais importante para nossa disciplina. Sem um criterio definido antes, o teste vira so "achei o numero bonitinho". Com criterio, ele vira validacao de verdade: passou ou nao passou. A gente vai mostrar isso na pratica com os thresholds do k6.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Eduardo: Explicar VU com calma, e o conceito que mais confunde. Um VU e um usuario simulado que fica repetindo a acao em loop. 50 VUs nao e "50 requisicoes", e "50 pessoas usando o sistema ao mesmo tempo, sem parar". Depois emendar para o proximo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Eduardo: Deixar a turma olhar os numeros por uns segundos. A media foi puxada para cima por um unico valor ruim, e ao mesmo tempo ela esconde que esse valor ruim existiu. Nos dois sentidos ela mente. Por isso a gente usa percentis.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Eduardo: Essa e a parte que a gente quer que todo mundo saia entendendo. Imaginem 100 pessoas usando o sistema e a gente enfileira todas pelo tempo que esperaram, da mais rapida para a mais lenta. O p50 e a pessoa que esta no meio dessa fila. O p95 e a pessoa na posicao 95, quase a pior. A gente se preocupa com ela porque 5% dos usuarios e muita gente: num sistema com 10 mil acessos por dia, sao 500 pessoas com experiencia ruim todo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Eduardo: Emendar com: e exatamente essa frase que a gente vai transformar em codigo daqui a pouco, no k6. Ela vira uma linha do script, e o k6 devolve verde ou vermelho.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Eduardo: Citar os colegas: o Grupo 1 vai falar de desempenho, que e o guarda-chuva onde o nosso tema mora, e o Grupo 3 vai falar de estresse, que e o passo seguinte ao nosso. A frase do rodape resume a diferenca toda. Se perguntarem sobre nomenclatura: na documentacao do k6 esse teste aparece como "average-load test", o teste que avalia o sistema sob as condicoes normais esperadas. E o mesmo que a literatura em portugues chama de teste de carga.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Eduardo: O exemplo da matricula e o que mais pega na turma, todo mundo ja viu sistema de matricula cair. E o caso classico: o sistema funciona perfeitamente 364 dias por ano e cai exatamente no unico dia que importa. E ninguem testou aquele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Luan: Dizer que a gente nao sabia de antemao onde essa API ia quebrar, a gente descobriu rodando. E exatamente isso que um teste de carga faz: a gente nao adivinha o limite, a gente mede. Avisar tambem que o terceiro teste reprova, porque um teste que nunca falha nao prova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Luan: Ir linha por linha, sem pressa. O sleep e o detalhe que mais gente esquece: usuario real le a tela, pensa, clica. Sem a pausa voce nao esta simulando carga realista, esta fazendo outra coisa.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Eduardo: O segundo ponto e o mais forte. Do teste de 50 para o de 100, o numero de requisicoes atendidas praticamente nao mudou: 32 para 36 por segundo. Mas o tempo de espera foi de 250ms para 1,5 segundo, seis vezes pior. O sistema nao ganhou capacidade nenhuma, so formou fila. Encontrar esse ponto e o objetivo do teste de carga. Lembrar tambem: quando um threshold falha, o k6 sai com codigo 99, e assim que um pipeline de CI barra a versao.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Luan: Fechar com a frase do custo. E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Referencias conferidas em 17/09/2026. A ISO/IEC 25010 foi revisada em 2023: a edicao de 2011 esta substituida, e performance efficiency continua sendo uma das caracteristicas. O syllabus do ISTQB esta na v4.0.1, de setembro de 2024, que e uma errata da v4.0 de abril de 2023.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 de Carga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e Validação de Software  ·  Testes não funcionais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74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Luan e Eduardo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40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MSc. Junior Marcos Bandeira  ·  2025.6 — 1º Bimestre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863840" y="5641848"/>
            <a:ext cx="201168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56448" y="5546252"/>
            <a:ext cx="201168" cy="2601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49056" y="5450655"/>
            <a:ext cx="201168" cy="355785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41664" y="5355059"/>
            <a:ext cx="201168" cy="451381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34272" y="5259463"/>
            <a:ext cx="201168" cy="546977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0" y="5163866"/>
            <a:ext cx="201168" cy="64257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19488" y="5068270"/>
            <a:ext cx="201168" cy="73817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972673"/>
            <a:ext cx="201168" cy="833767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04704" y="4877077"/>
            <a:ext cx="201168" cy="929363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97312" y="4781481"/>
            <a:ext cx="201168" cy="1024959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89920" y="4685884"/>
            <a:ext cx="201168" cy="112055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082528" y="4590288"/>
            <a:ext cx="201168" cy="1216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16002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teste de carga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4688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 características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33375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métricas que importam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42062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× Estresse × Desempenho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92240" y="160020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059168" y="16002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aplicar e por quê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92240" y="2468880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059168" y="24688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prática com k6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92240" y="333756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33375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e referências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teste de carga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o sistema para funcionar sob a quantidade de uso que a gente espera na vida real — e medir como ele se comporta.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100584" cy="10058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487168"/>
            <a:ext cx="6144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estamos procurando erro de lógica no código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100584" cy="10058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3264408"/>
            <a:ext cx="6144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perguntando: "e quando forem 500 pessoas ao mesmo tempo?"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100584" cy="10058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4041648"/>
            <a:ext cx="6144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teste não funcional: não avalia o que o sistema faz, e sim como ele faz — rápido, estável, sem quebrar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06640" y="1371600"/>
            <a:ext cx="4233672" cy="3154680"/>
          </a:xfrm>
          <a:prstGeom prst="roundRect">
            <a:avLst>
              <a:gd name="adj" fmla="val 1739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26680" y="20574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Testar uma ponte não é só ver se dá para atravessar a pé.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306324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colocar em cima dela o peso de trânsito que ela vai receber todo dia e medir se ela entorta.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gente quer descobrir: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73736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aguenta a carga esperada?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239572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continua rápido o suficiente sob essa carga?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054096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3054096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usuários simultâneos ele suporta antes de degradar?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712464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371246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se mantém estável ao longo do tempo ou vai piorando?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370832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370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437083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está o gargalo: banco de dados, servidor, rede, código?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257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final: descobrir o problema antes do usuário descobrir.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Características principais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83864" cy="1737360"/>
          </a:xfrm>
          <a:prstGeom prst="roundRect">
            <a:avLst>
              <a:gd name="adj" fmla="val 3158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682496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esperada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12140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Simulamos o uso realista previsto — não um exagero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0" y="1463040"/>
            <a:ext cx="3483864" cy="1737360"/>
          </a:xfrm>
          <a:prstGeom prst="roundRect">
            <a:avLst>
              <a:gd name="adj" fmla="val 3158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99432" y="1682496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99432" y="212140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 o número de usuários aos poucos (rampa) para ver onde começa a piorar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463040"/>
            <a:ext cx="3483864" cy="1737360"/>
          </a:xfrm>
          <a:prstGeom prst="roundRect">
            <a:avLst>
              <a:gd name="adj" fmla="val 3158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94192" y="1682496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duração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94192" y="212140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 pico de 2 segundos: é sustentar a carga por um período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3483864" cy="1737360"/>
          </a:xfrm>
          <a:prstGeom prst="roundRect">
            <a:avLst>
              <a:gd name="adj" fmla="val 3158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373075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Automatizado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4169664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Impossível fazer manualmente com centenas de usuários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43400" y="3511296"/>
            <a:ext cx="3483864" cy="1737360"/>
          </a:xfrm>
          <a:prstGeom prst="roundRect">
            <a:avLst>
              <a:gd name="adj" fmla="val 3158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99432" y="373075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em métricas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99432" y="4169664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é número, não opinião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3511296"/>
            <a:ext cx="3483864" cy="1737360"/>
          </a:xfrm>
          <a:prstGeom prst="roundRect">
            <a:avLst>
              <a:gd name="adj" fmla="val 3158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94192" y="373075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critério de aprovação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94192" y="4169664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Definido antes de rodar o teste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último item é o que transforma o teste em validação: sem critério definido antes, o teste só mede — não aprova nem reprova.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métricas que importam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657600"/>
                <a:gridCol w="441929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português claro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VUs (usuários virtuais)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Usuários simultâneos simulados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Quantas "pessoas" o teste está simulando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Requisições por segundo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Quanto o sistema consegue atender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de resposta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Duração de cada requisição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Quanto o usuário espera na tela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erro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 requisições que falharam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Quantas pessoas tomaram erro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212080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52120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Dessas quatro, a de tempo de resposta é a mais traiçoeira — e é sobre ela que falamos agora.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da média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olhe só a média do tempo de resposta.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1143000"/>
          </a:xfrm>
          <a:prstGeom prst="roundRect">
            <a:avLst>
              <a:gd name="adj" fmla="val 4800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requisições, em milissegundos: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120   130   140   150   160   170   180   190   200   900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3200400" cy="1828800"/>
          </a:xfrm>
          <a:prstGeom prst="roundRect">
            <a:avLst>
              <a:gd name="adj" fmla="val 300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4290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234 ms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06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média — parece ótimo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06240" y="3520440"/>
            <a:ext cx="100584" cy="10058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62272" y="3401568"/>
            <a:ext cx="7150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das 10 requisições foram mais rápidas que a média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06240" y="4206240"/>
            <a:ext cx="100584" cy="10058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62272" y="4087368"/>
            <a:ext cx="7150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teve um usuário esperando quase 1 segundo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4846320"/>
            <a:ext cx="7434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média esconde os piores casos. E é justamente o pior caso que faz o usuário desistir.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é puxada para cima por um único valor ruim e, ao mesmo tempo, esconde que esse valor existiu. Mente nos dois sentidos.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Percentis: p50 e p95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 = você ordena todos os tempos de resposta, do menor para o maior, e olha uma posição específica da fila.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2606040"/>
          </a:xfrm>
          <a:prstGeom prst="roundRect">
            <a:avLst>
              <a:gd name="adj" fmla="val 2105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842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p50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mediana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do meio da fila.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8152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"Metade dos usuários teve uma experiência melhor ou igual a essa."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experiência típica, do usuário comum.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394960" cy="2606040"/>
          </a:xfrm>
          <a:prstGeom prst="roundRect">
            <a:avLst>
              <a:gd name="adj" fmla="val 2105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19842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p95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194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95ª de 100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743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100 requisições ordenadas, é a 95ª.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08152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"95% dos usuários tiveram esse tempo ou melhor. Só 5% foram piores."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experiência do usuário azarado.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94415" cy="1417320"/>
          </a:xfrm>
          <a:prstGeom prst="roundRect">
            <a:avLst>
              <a:gd name="adj" fmla="val 3871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846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p50 = 180 ms        p95 = 2.400 ms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3492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comum acha o sistema rápido. Mas 1 em cada 20 esperou quase 2 segundos e meio.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p95 e não o pior caso?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00584" cy="10058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664208"/>
            <a:ext cx="60533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pior caso (o máximo) é um valor só — pode ser ruído: uma travada do sistema operacional, a rede oscilando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00584" cy="10058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898648"/>
            <a:ext cx="60533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Otimizar por causa de um único ponto fora da curva é desperdício de trabalho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251960"/>
            <a:ext cx="100584" cy="10058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4133088"/>
            <a:ext cx="60533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p95 é o pior caso que acontece com frequência — esse é real e vale corrigir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223760" y="1463040"/>
            <a:ext cx="4416552" cy="4617720"/>
          </a:xfrm>
          <a:prstGeom prst="roundRect">
            <a:avLst>
              <a:gd name="adj" fmla="val 1242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0" y="1737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PRÁTICA, O CRITÉRIO DO TIME VIRA ESTA FRASE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2331720"/>
            <a:ext cx="3886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 p95 do tempo de resposta deve ficar abaixo de 500 ms com 50 usuários simultâneos."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39776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passa, ou não passa.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48006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Frase testável. Isso é validação.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525780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exatamente ela que vira uma linha de código no k6 daqui a pouco.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 × Estresse × Desempenho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566160"/>
                <a:gridCol w="2926080"/>
                <a:gridCol w="240761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 que responde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 usada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esperado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Desempenho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Guarda-chuva: o sistema é eficiente?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Aguenta o uso esperado?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carga prevista do dia a dia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C6E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sucesso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Estresse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ele quebra? E se recupera?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acima do limite, até falhar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achar a ruptura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206240"/>
            <a:ext cx="100584" cy="10058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4672" y="4087368"/>
            <a:ext cx="10259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Carga: "domingo à noite, 500 pessoas usando. Tudo bem?"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4709160"/>
            <a:ext cx="100584" cy="10058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" y="4590288"/>
            <a:ext cx="10259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Estresse: "e se vierem 5.000?" — o passo seguinte ao nosso tema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5166360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51663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teste de carga, falhar é um problema. No teste de estresse, falhar é o objetivo.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aplicar e por quê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Situações em que o teste de carga é indispensável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0584" cy="10058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801368"/>
            <a:ext cx="6144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de pico previsto — Black Friday, matrícula na faculdade, venda de ingresso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00584" cy="10058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624328"/>
            <a:ext cx="6144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lançar um sistema que vai receber muita gente de uma vez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100584" cy="10058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3447288"/>
            <a:ext cx="6144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mudança grande — trocou o banco, refez uma consulta, migrou de servidor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389120"/>
            <a:ext cx="100584" cy="10058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4270248"/>
            <a:ext cx="6144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de base — a aplicação dobrou de usuários desde o último teste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212080"/>
            <a:ext cx="100584" cy="10058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5093208"/>
            <a:ext cx="6144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 nível de serviço (SLA) com tempo de resposta acordado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223760" y="1280160"/>
            <a:ext cx="4416552" cy="4800600"/>
          </a:xfrm>
          <a:prstGeom prst="roundRect">
            <a:avLst>
              <a:gd name="adj" fmla="val 1242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0" y="1600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ENTRA NO PROCESSO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0" y="2240280"/>
            <a:ext cx="100584" cy="10058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54112" y="2121408"/>
            <a:ext cx="35844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em ambiente de homologação, parecido com produção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98080" y="3383280"/>
            <a:ext cx="100584" cy="10058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54112" y="3264408"/>
            <a:ext cx="35844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Idealmente automatizado no pipeline de CI/CD — a cada versão, o teste roda sozinho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98080" y="4526280"/>
            <a:ext cx="100584" cy="10058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54112" y="4407408"/>
            <a:ext cx="35844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critério de desempenho falhar, a versão não sobe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534924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 matrícula é o caso clássico: funciona 364 dias por ano e cai exatamente no único dia que importa.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Nossa demonstração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14630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uma API simples com um endpoint GET /produtos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76272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17627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o k6 com 5 usuários — uso tranquilo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889504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889504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com 50 usuários — o limite da API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602736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360273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com 100 usuários — acima do limite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315968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431596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os relatórios e comparar os três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223760" y="1463040"/>
            <a:ext cx="4416552" cy="2423160"/>
          </a:xfrm>
          <a:prstGeom prst="roundRect">
            <a:avLst>
              <a:gd name="adj" fmla="val 2264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0" y="16916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APROVAÇÃO, DEFINIDO ANTES DO TESTE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22402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p95 &lt; 500 ms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7432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taxa de erro &lt; 1%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33101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resposta e falhas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223760" y="4114800"/>
            <a:ext cx="4416552" cy="1965960"/>
          </a:xfrm>
          <a:prstGeom prst="roundRect">
            <a:avLst>
              <a:gd name="adj" fmla="val 2791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0" y="437083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Ferramenta: k6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480060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Labs — open source, teste escrito em JavaScript, roda pelo terminal.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2578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sabíamos onde essa API ia quebrar — descobrimos rodando. É isso que o teste de carga faz: a gente não adivinha o limite, a gente mede.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script, linha por linha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949440" cy="4709160"/>
          </a:xfrm>
          <a:prstGeom prst="roundRect">
            <a:avLst>
              <a:gd name="adj" fmla="val 1165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72768"/>
            <a:ext cx="649224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http from 'k6/http';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check, sleep } from 'k6';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VUS = Number(__ENV.VUS || 50);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options =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stages: [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duration: '10s', target: VUS },  // sobe até VUS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duration: '20s', target: VUS },  // mantém a carga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duration: '5s',  target: 0 },    // desce até 0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thresholds: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http_req_duration: ['p(95)&lt;500'],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http_req_failed:   ['rate&lt;0.01'],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()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http.get('http://localhost:3000/produtos');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check(res, { 'status 200': (r) =&gt; r.status === 200 });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sleep(1);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417320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1728216"/>
            <a:ext cx="3867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rampa: sobe, sustenta, desce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2350008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2660904"/>
            <a:ext cx="3867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critério de aprovação virando código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3282696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3593592"/>
            <a:ext cx="3867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se a resposta veio correta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4215384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4526280"/>
            <a:ext cx="3867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isso o teste vira metralhadora, não usuário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72400" y="5212080"/>
            <a:ext cx="3867912" cy="868680"/>
          </a:xfrm>
          <a:prstGeom prst="roundRect">
            <a:avLst>
              <a:gd name="adj" fmla="val 6316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73568" y="5321808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arquivo roda os três cenários: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973568" y="5614416"/>
            <a:ext cx="3465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k6 run -e VUS=5 carga.js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Lendo os resultados</a:t>
            </a:r>
            <a:endParaRPr lang="en-US" sz="3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3413455"/>
                <a:gridCol w="2560320"/>
                <a:gridCol w="2560320"/>
                <a:gridCol w="25603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usuários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usuários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usuários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p50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(usuário típico)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249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1,49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(usuário azarado)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1,17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Requisições / segundo</a:t>
                      </a:r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erro</a:t>
                      </a:r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Veredito</a:t>
                      </a:r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C6E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passou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C6E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passou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REPROVOU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343400"/>
            <a:ext cx="3483864" cy="1737360"/>
          </a:xfrm>
          <a:prstGeom prst="roundRect">
            <a:avLst>
              <a:gd name="adj" fmla="val 3158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452628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0% nos três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502920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não caiu — só ficou lento. Um teste que só olha "deu erro?" aprovaria os três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343400" y="4343400"/>
            <a:ext cx="3483864" cy="1737360"/>
          </a:xfrm>
          <a:prstGeom prst="roundRect">
            <a:avLst>
              <a:gd name="adj" fmla="val 3158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0" y="452628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travou em ~37/s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502920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Dobramos os usuários e o sistema não atendeu mais ninguém. Esse é o limite da API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138160" y="4343400"/>
            <a:ext cx="3483864" cy="1737360"/>
          </a:xfrm>
          <a:prstGeom prst="roundRect">
            <a:avLst>
              <a:gd name="adj" fmla="val 3158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66760" y="452628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média mentiu de novo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8366760" y="502920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50 usuários ela ficou em 195 ms, abaixo do p50 de 249 ms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100584" cy="100584"/>
          </a:xfrm>
          <a:prstGeom prst="rect">
            <a:avLst/>
          </a:prstGeom>
          <a:solidFill>
            <a:srgbClr val="A9C4D6"/>
          </a:solidFill>
          <a:ln w="12700">
            <a:solidFill>
              <a:srgbClr val="A9C4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755648"/>
            <a:ext cx="9802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carga responde a pergunta que o teste funcional não responde: "aguenta?"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587752"/>
            <a:ext cx="100584" cy="100584"/>
          </a:xfrm>
          <a:prstGeom prst="rect">
            <a:avLst/>
          </a:prstGeom>
          <a:solidFill>
            <a:srgbClr val="A9C4D6"/>
          </a:solidFill>
          <a:ln w="12700">
            <a:solidFill>
              <a:srgbClr val="A9C4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468880"/>
            <a:ext cx="9802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engana. Use percentis — p50 para o usuário típico, p95 para o usuário azarado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00984"/>
            <a:ext cx="100584" cy="100584"/>
          </a:xfrm>
          <a:prstGeom prst="rect">
            <a:avLst/>
          </a:prstGeom>
          <a:solidFill>
            <a:srgbClr val="A9C4D6"/>
          </a:solidFill>
          <a:ln w="12700">
            <a:solidFill>
              <a:srgbClr val="A9C4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3182112"/>
            <a:ext cx="9802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bom teste de carga tem critério de aprovação definido antes de rodar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4014216"/>
            <a:ext cx="100584" cy="100584"/>
          </a:xfrm>
          <a:prstGeom prst="rect">
            <a:avLst/>
          </a:prstGeom>
          <a:solidFill>
            <a:srgbClr val="A9C4D6"/>
          </a:solidFill>
          <a:ln w="12700">
            <a:solidFill>
              <a:srgbClr val="A9C4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3895344"/>
            <a:ext cx="9802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pode não dar nenhum erro e ainda assim estar reprovado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4727448"/>
            <a:ext cx="100584" cy="100584"/>
          </a:xfrm>
          <a:prstGeom prst="rect">
            <a:avLst/>
          </a:prstGeom>
          <a:solidFill>
            <a:srgbClr val="A9C4D6"/>
          </a:solidFill>
          <a:ln w="12700">
            <a:solidFill>
              <a:srgbClr val="A9C4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4608576"/>
            <a:ext cx="9802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o gargalo em teste é barato. Achar em produção, no dia do pico, é caro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440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A9C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 de carga não é luxo de sistema grande: é parte da validação.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595360" y="6236208"/>
            <a:ext cx="201168" cy="164592"/>
          </a:xfrm>
          <a:prstGeom prst="rect">
            <a:avLst/>
          </a:prstGeom>
          <a:solidFill>
            <a:srgbClr val="1C7293">
              <a:alpha val="65000"/>
            </a:srgbClr>
          </a:solidFill>
          <a:ln w="1270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87968" y="6140612"/>
            <a:ext cx="201168" cy="260188"/>
          </a:xfrm>
          <a:prstGeom prst="rect">
            <a:avLst/>
          </a:prstGeom>
          <a:solidFill>
            <a:srgbClr val="1C7293">
              <a:alpha val="65000"/>
            </a:srgbClr>
          </a:solidFill>
          <a:ln w="1270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80576" y="6045015"/>
            <a:ext cx="201168" cy="355785"/>
          </a:xfrm>
          <a:prstGeom prst="rect">
            <a:avLst/>
          </a:prstGeom>
          <a:solidFill>
            <a:srgbClr val="1C7293">
              <a:alpha val="65000"/>
            </a:srgbClr>
          </a:solidFill>
          <a:ln w="1270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73184" y="5949419"/>
            <a:ext cx="201168" cy="451381"/>
          </a:xfrm>
          <a:prstGeom prst="rect">
            <a:avLst/>
          </a:prstGeom>
          <a:solidFill>
            <a:srgbClr val="1C7293">
              <a:alpha val="65000"/>
            </a:srgbClr>
          </a:solidFill>
          <a:ln w="1270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65792" y="5853823"/>
            <a:ext cx="201168" cy="546977"/>
          </a:xfrm>
          <a:prstGeom prst="rect">
            <a:avLst/>
          </a:prstGeom>
          <a:solidFill>
            <a:srgbClr val="1C7293">
              <a:alpha val="65000"/>
            </a:srgbClr>
          </a:solidFill>
          <a:ln w="1270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0" y="5758226"/>
            <a:ext cx="201168" cy="642574"/>
          </a:xfrm>
          <a:prstGeom prst="rect">
            <a:avLst/>
          </a:prstGeom>
          <a:solidFill>
            <a:srgbClr val="1C7293">
              <a:alpha val="65000"/>
            </a:srgbClr>
          </a:solidFill>
          <a:ln w="1270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51008" y="5662630"/>
            <a:ext cx="201168" cy="738170"/>
          </a:xfrm>
          <a:prstGeom prst="rect">
            <a:avLst/>
          </a:prstGeom>
          <a:solidFill>
            <a:srgbClr val="1C7293">
              <a:alpha val="65000"/>
            </a:srgbClr>
          </a:solidFill>
          <a:ln w="1270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43616" y="5567033"/>
            <a:ext cx="201168" cy="833767"/>
          </a:xfrm>
          <a:prstGeom prst="rect">
            <a:avLst/>
          </a:prstGeom>
          <a:solidFill>
            <a:srgbClr val="1C7293">
              <a:alpha val="65000"/>
            </a:srgbClr>
          </a:solidFill>
          <a:ln w="1270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36224" y="5471437"/>
            <a:ext cx="201168" cy="929363"/>
          </a:xfrm>
          <a:prstGeom prst="rect">
            <a:avLst/>
          </a:prstGeom>
          <a:solidFill>
            <a:srgbClr val="1C7293">
              <a:alpha val="65000"/>
            </a:srgbClr>
          </a:solidFill>
          <a:ln w="1270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228832" y="5375841"/>
            <a:ext cx="201168" cy="1024959"/>
          </a:xfrm>
          <a:prstGeom prst="rect">
            <a:avLst/>
          </a:prstGeom>
          <a:solidFill>
            <a:srgbClr val="1C7293">
              <a:alpha val="65000"/>
            </a:srgbClr>
          </a:solidFill>
          <a:ln w="1270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521440" y="5280244"/>
            <a:ext cx="201168" cy="1120556"/>
          </a:xfrm>
          <a:prstGeom prst="rect">
            <a:avLst/>
          </a:prstGeom>
          <a:solidFill>
            <a:srgbClr val="1C7293">
              <a:alpha val="65000"/>
            </a:srgbClr>
          </a:solidFill>
          <a:ln w="1270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814048" y="5184648"/>
            <a:ext cx="201168" cy="1216152"/>
          </a:xfrm>
          <a:prstGeom prst="rect">
            <a:avLst/>
          </a:prstGeom>
          <a:solidFill>
            <a:srgbClr val="1C7293">
              <a:alpha val="65000"/>
            </a:srgbClr>
          </a:solidFill>
          <a:ln w="12700">
            <a:solidFill>
              <a:srgbClr val="1C7293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25010:2023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562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and software engineering — SQuaRE — Product quality model. Característica Performance efficiency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ISTQB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2491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Tester Foundation Level Syllabus, v4.0.1, 2024 — testes não funcionais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LABS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93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Documentation: Load test types. Disponível em: grafana.com/docs/k6/latest/testing-guides/test-types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605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MOLYNEAUX, Ian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6227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of Application Performance Testing. 2. ed. O’Reilly, 2014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029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DELAMARO, M.; MALDONADO, J.; JINO, M.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33095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ao Teste de Software. 2. ed. Rio de Janeiro: Elsevier, 2016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4 — Luan e Eduardo  ·  Verificação e Validação de Software  ·  18/09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 de Carga</dc:title>
  <dc:subject>PptxGenJS Presentation</dc:subject>
  <dc:creator>Luan e Eduardo</dc:creator>
  <cp:lastModifiedBy>Luan e Eduardo</cp:lastModifiedBy>
  <cp:revision>1</cp:revision>
  <dcterms:created xsi:type="dcterms:W3CDTF">2026-09-18T01:37:07Z</dcterms:created>
  <dcterms:modified xsi:type="dcterms:W3CDTF">2026-09-18T01:37:07Z</dcterms:modified>
</cp:coreProperties>
</file>